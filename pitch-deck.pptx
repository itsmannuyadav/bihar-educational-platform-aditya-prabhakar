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288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288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288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288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288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288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288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432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432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432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432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432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32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432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576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576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576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6576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576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576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76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576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720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720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720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20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720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720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720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720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4864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4864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64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4864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4864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864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4864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008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4008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008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008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008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008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008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3152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3152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3152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3152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3152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3152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3152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3152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2296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6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2296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2296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2296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296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2296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40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1440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1440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440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1440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1440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440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1440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584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0584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0584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0584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0584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0584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584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0584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9728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9728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9728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9728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9728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9728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9728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9728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8872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8872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8872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8872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8872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8872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8872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286000" y="1097280"/>
            <a:ext cx="7772400" cy="4754880"/>
          </a:xfrm>
          <a:prstGeom prst="ellipse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389120" y="1188720"/>
            <a:ext cx="3383280" cy="3200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38912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56010"/>
                </a:solidFill>
              </a:rPr>
              <a:t>Bihar State Education Board  ·  BSEB Pilot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97280" y="17373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56010"/>
                </a:solidFill>
              </a:rPr>
              <a:t>शिक्षा सारथी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9728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4EDDF"/>
                </a:solidFill>
              </a:rPr>
              <a:t>Shiksha Sathi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A52A"/>
                </a:solidFill>
              </a:rPr>
              <a:t>बिहार के सरकारी स्कूल शिक्षकों के लिए AI शिक्षण सहायक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71600" y="4434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A9AB8"/>
                </a:solidFill>
              </a:rPr>
              <a:t>AI Teaching Companion for Bihar Government School Teachers  ·  Classes 6–10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AB8"/>
                </a:solidFill>
              </a:rPr>
              <a:t>Shiksha Sathi  ·  शिक्षा सारथी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6010"/>
                </a:solidFill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EDDF"/>
                </a:solidFill>
              </a:rPr>
              <a:t>Bihar's teachers are overburdened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52A"/>
                </a:solidFill>
              </a:rPr>
              <a:t>हर रोज़ पाठ तैयारी में घंटों जाते हैं — डिजिटल उपकरण नहीं, हिंदी सामग्री नहीं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3474720" cy="256032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3474720" cy="256032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56010"/>
                </a:solidFill>
              </a:rPr>
              <a:t>70k+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EDDF"/>
                </a:solidFill>
              </a:rPr>
              <a:t>Government Schools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8"/>
                </a:solidFill>
              </a:rPr>
              <a:t>sarkari schools across Bihar — most without teaching aids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560320"/>
            <a:ext cx="3474720" cy="256032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2560320"/>
            <a:ext cx="3474720" cy="256032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56010"/>
                </a:solidFill>
              </a:rPr>
              <a:t>4L+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520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EDDF"/>
                </a:solidFill>
              </a:rPr>
              <a:t>Teachers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8"/>
                </a:solidFill>
              </a:rPr>
              <a:t>preparing lessons manually, 3–4 hours per topic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2560320"/>
            <a:ext cx="3474720" cy="256032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2560320"/>
            <a:ext cx="3474720" cy="256032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56010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520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EDDF"/>
                </a:solidFill>
              </a:rPr>
              <a:t>Hindi AI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8"/>
                </a:solidFill>
              </a:rPr>
              <a:t>no AI tool built for BSEB curriculum or Hindi-medium teachers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AB8"/>
                </a:solidFill>
              </a:rPr>
              <a:t>The result: inconsistent lesson quality, teacher burnout, and students left behind.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AB8"/>
                </a:solidFill>
              </a:rPr>
              <a:t>Shiksha Sathi  ·  शिक्षा सारथी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6010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4EDDF"/>
                </a:solidFill>
              </a:rPr>
              <a:t>One platform. Complete kit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52A"/>
                </a:solidFill>
              </a:rPr>
              <a:t>बोलें या टाइप करें — AI पूरा पाठ किट बनाएगा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3474720" cy="274320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3474720" cy="274320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53D5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52A"/>
                </a:solidFill>
              </a:rPr>
              <a:t>अध्याय चुनें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EDDF"/>
                </a:solidFill>
              </a:rPr>
              <a:t>Select a Chapter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8"/>
                </a:solidFill>
              </a:rPr>
              <a:t>Pick class, subject &amp; chapter from the BSEB catalog — or speak it in Hindi via voice 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331720"/>
            <a:ext cx="3474720" cy="274320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331720"/>
            <a:ext cx="3474720" cy="274320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4688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53D5E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52A"/>
                </a:solidFill>
              </a:rPr>
              <a:t>AI बनाए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337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EDDF"/>
                </a:solidFill>
              </a:rPr>
              <a:t>AI Generates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703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8"/>
                </a:solidFill>
              </a:rPr>
              <a:t>6 resources stream in parallel — lesson plan, script, questions, worksheet, mind map, slides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2331720"/>
            <a:ext cx="3474720" cy="274320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2331720"/>
            <a:ext cx="3474720" cy="274320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4688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53D5E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52A"/>
                </a:solidFill>
              </a:rPr>
              <a:t>पढ़ाएं!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37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EDDF"/>
                </a:solidFill>
              </a:rPr>
              <a:t>Teach!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703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8"/>
                </a:solidFill>
              </a:rPr>
              <a:t>Download PPTX, print the worksheet, play the audio — or read the script aloud in class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03520"/>
            <a:ext cx="11064240" cy="50292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03520"/>
            <a:ext cx="11064240" cy="50292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49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EDDF"/>
                </a:solidFill>
              </a:rPr>
              <a:t>⚡  Repeat lessons are instant — semantic caching serves a previously generated chapter in &lt;1 second, no API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AB8"/>
                </a:solidFill>
              </a:rPr>
              <a:t>Shiksha Sathi  ·  शिक्षा सारथी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6010"/>
                </a:solidFill>
              </a:rPr>
              <a:t>TEACHING KIT — 7 RESOURCES GENERATED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DDF"/>
                </a:solidFill>
              </a:rPr>
              <a:t>Everything a teacher needs, already made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697480" cy="173736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2697480" cy="173736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52A"/>
                </a:solidFill>
              </a:rPr>
              <a:t>📚  पाठ योजना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585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Lesson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Structured 45-min plan with objectives &amp; activities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783080"/>
            <a:ext cx="2697480" cy="173736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2697480" cy="173736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52A"/>
                </a:solidFill>
              </a:rPr>
              <a:t>🗣️  शिक्षण स्क्रिप्ट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585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Teaching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Word-for-word classroom script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83080"/>
            <a:ext cx="2697480" cy="173736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83080"/>
            <a:ext cx="2697480" cy="173736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52A"/>
                </a:solidFill>
              </a:rPr>
              <a:t>❓  प्रश्नावली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585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603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MCQs, short-answer &amp; HOTS with answer key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783080"/>
            <a:ext cx="2697480" cy="173736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783080"/>
            <a:ext cx="2697480" cy="173736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8745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52A"/>
                </a:solidFill>
              </a:rPr>
              <a:t>📝  वर्कशीट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585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Worksheet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5603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Print-ready student worksheet (PDF)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03320"/>
            <a:ext cx="2697480" cy="173736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703320"/>
            <a:ext cx="2697480" cy="173736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7947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52A"/>
                </a:solidFill>
              </a:rPr>
              <a:t>🗺️  मन-मैप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17880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Mind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4805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Interactive visual concept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3703320"/>
            <a:ext cx="2697480" cy="173736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703320"/>
            <a:ext cx="2697480" cy="173736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7947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52A"/>
                </a:solidFill>
              </a:rPr>
              <a:t>📊  प्रेज़ेंटेशन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17880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Slides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4805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5 / 10 / 15-slide PPTX — download &amp; project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703320"/>
            <a:ext cx="2697480" cy="173736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703320"/>
            <a:ext cx="2697480" cy="173736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7947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52A"/>
                </a:solidFill>
              </a:rPr>
              <a:t>🎧  ऑडियो पाठ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17880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Audio Lesson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4805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1, 3 and 5-minute spoken explanations (MP3)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AB8"/>
                </a:solidFill>
              </a:rPr>
              <a:t>Shiksha Sathi  ·  शिक्षा सारथी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6010"/>
                </a:solidFill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DDF"/>
                </a:solidFill>
              </a:rPr>
              <a:t>Built to scale across Bihar's 70,000 schools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13258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13258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🤖 Google Gemini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State-of-the-art LLM generates BSEB-aligned content in Hindi, Hinglish and English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13258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13258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⚡ Semantic Cache (pgvector)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Cosine similarity search — teachers sharing the same chapter share the result, cutting AI cost to near-zero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5394960" cy="13258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5394960" cy="13258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84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📶 Offline-Resilient PWA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App shell cached locally — works on 2G/3G, shows a Hindi offline warning on poor connections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5394960" cy="13258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5394960" cy="13258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84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🔐 Role-Based 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Teacher / School Admin / Super Admin roles — district officials monitor usage across their schools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5394960" cy="13258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5394960" cy="13258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38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🎙️ Voice Input (OpenAI Whisper)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Teachers speak in Hindi — transcribed &amp; pre-filled automatically. No keyboard required.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029200"/>
            <a:ext cx="5394960" cy="13258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5029200"/>
            <a:ext cx="5394960" cy="13258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138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DDF"/>
                </a:solidFill>
              </a:rPr>
              <a:t>📈 Analytics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5321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Live cache hit rates by resource type — administrators see which topics are most requested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AB8"/>
                </a:solidFill>
              </a:rPr>
              <a:t>Shiksha Sathi  ·  शिक्षा सारथी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6010"/>
                </a:solidFill>
              </a:rPr>
              <a:t>BIHAR-FIRST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DDF"/>
                </a:solidFill>
              </a:rPr>
              <a:t>Not adapted for Bihar. Built for Bihar.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291840" cy="45720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10058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1064240" cy="100584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594360" cy="594360"/>
          </a:xfrm>
          <a:prstGeom prst="rect">
            <a:avLst/>
          </a:prstGeom>
          <a:solidFill>
            <a:srgbClr val="1C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6010"/>
                </a:solidFill>
              </a:rPr>
              <a:t>भा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01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52A"/>
                </a:solidFill>
              </a:rPr>
              <a:t>हिंदी और हिंग्लिश पहले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12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DDF"/>
                </a:solidFill>
              </a:rPr>
              <a:t>Hindi &amp; Hinglish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6596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8"/>
                </a:solidFill>
              </a:rPr>
              <a:t>UI, prompts and output all available in Hindi. Teachers generate content in the language they teach 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11064240" cy="10058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11064240" cy="100584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00400"/>
            <a:ext cx="594360" cy="594360"/>
          </a:xfrm>
          <a:prstGeom prst="rect">
            <a:avLst/>
          </a:prstGeom>
          <a:solidFill>
            <a:srgbClr val="1C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1272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6010"/>
                </a:solidFill>
              </a:rP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090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52A"/>
                </a:solidFill>
              </a:rPr>
              <a:t>BSEB पाठ्यक्रम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01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DDF"/>
                </a:solidFill>
              </a:rPr>
              <a:t>Full BSEB Curriculum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5468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8"/>
                </a:solidFill>
              </a:rPr>
              <a:t>All chapters for Classes 6–10 across Science, Math, Social Science, Hindi and English — real NCERT syllabus.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11064240" cy="10058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1064240" cy="100584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389120"/>
            <a:ext cx="594360" cy="594360"/>
          </a:xfrm>
          <a:prstGeom prst="rect">
            <a:avLst/>
          </a:prstGeom>
          <a:solidFill>
            <a:srgbClr val="1C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3159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6010"/>
                </a:solidFill>
              </a:rP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79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52A"/>
                </a:solidFill>
              </a:rPr>
              <a:t>मोबाइल-पहले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590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DDF"/>
                </a:solidFill>
              </a:rPr>
              <a:t>Mobile-First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4340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8"/>
                </a:solidFill>
              </a:rPr>
              <a:t>Teachers generate a full kit from their phone during free period. No laptop required.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577840"/>
            <a:ext cx="594360" cy="594360"/>
          </a:xfrm>
          <a:prstGeom prst="rect">
            <a:avLst/>
          </a:prstGeom>
          <a:solidFill>
            <a:srgbClr val="1C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5046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6010"/>
                </a:solidFill>
              </a:rPr>
              <a:t>🖨️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468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52A"/>
                </a:solidFill>
              </a:rPr>
              <a:t>प्रिंट-रेडी सामग्री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779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DDF"/>
                </a:solidFill>
              </a:rPr>
              <a:t>Print-Ready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53212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8"/>
                </a:solidFill>
              </a:rPr>
              <a:t>Worksheets and PPTX slides formatted for A4 printing — for schools without projectors.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AB8"/>
                </a:solidFill>
              </a:rPr>
              <a:t>Shiksha Sathi  ·  शिक्षा सारथी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6010"/>
                </a:solidFill>
              </a:rP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DDF"/>
                </a:solidFill>
              </a:rPr>
              <a:t>8 of 9 phases complete.  Pilot-ready.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606040" cy="10058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06040" cy="100584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6010"/>
                </a:solidFill>
              </a:rPr>
              <a:t>80+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Backend tests passing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828800"/>
            <a:ext cx="2606040" cy="10058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828800"/>
            <a:ext cx="2606040" cy="100584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6010"/>
                </a:solidFill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317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Frontend component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606040" cy="10058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606040" cy="100584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6010"/>
                </a:solidFill>
              </a:rPr>
              <a:t>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Playwright tested on mobile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828800"/>
            <a:ext cx="2606040" cy="10058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828800"/>
            <a:ext cx="2606040" cy="100584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8745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6010"/>
                </a:solidFill>
              </a:rPr>
              <a:t>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3317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ruff · mypy · tsc · eslint green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63240"/>
            <a:ext cx="5349240" cy="4114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63240"/>
            <a:ext cx="5349240" cy="4114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136392"/>
            <a:ext cx="274320" cy="27432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0998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118104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EDDF"/>
                </a:solidFill>
              </a:rPr>
              <a:t>Phase 1 — Monorepo 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1181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0C878"/>
                </a:solidFill>
              </a:rPr>
              <a:t>Done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063240"/>
            <a:ext cx="5349240" cy="4114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063240"/>
            <a:ext cx="5349240" cy="4114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3136392"/>
            <a:ext cx="274320" cy="27432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0998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118104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EDDF"/>
                </a:solidFill>
              </a:rPr>
              <a:t>Phase 2 — Authentication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31181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0C878"/>
                </a:solidFill>
              </a:rPr>
              <a:t>Done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5349240" cy="4114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584448"/>
            <a:ext cx="5349240" cy="4114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657600"/>
            <a:ext cx="274320" cy="27432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6210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3639312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EDDF"/>
                </a:solidFill>
              </a:rPr>
              <a:t>Phase 3 — Database &amp; Catalog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6393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0C878"/>
                </a:solidFill>
              </a:rPr>
              <a:t>Done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584448"/>
            <a:ext cx="5349240" cy="4114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3584448"/>
            <a:ext cx="5349240" cy="4114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657600"/>
            <a:ext cx="274320" cy="27432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6210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639312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EDDF"/>
                </a:solidFill>
              </a:rPr>
              <a:t>Phase 4 — Kit Generation (all 7 nodes)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36393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0C878"/>
                </a:solidFill>
              </a:rPr>
              <a:t>Done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105656"/>
            <a:ext cx="5349240" cy="4114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4105656"/>
            <a:ext cx="5349240" cy="4114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368" y="4178808"/>
            <a:ext cx="274320" cy="27432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41422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4160520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EDDF"/>
                </a:solidFill>
              </a:rPr>
              <a:t>Phase 5 — Audio Generation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4160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0C878"/>
                </a:solidFill>
              </a:rPr>
              <a:t>Done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4105656"/>
            <a:ext cx="5349240" cy="4114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4105656"/>
            <a:ext cx="5349240" cy="4114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73368" y="4178808"/>
            <a:ext cx="274320" cy="27432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3368" y="41422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4160520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EDDF"/>
                </a:solidFill>
              </a:rPr>
              <a:t>Phase 6 — PPT Hardening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4160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0C878"/>
                </a:solidFill>
              </a:rPr>
              <a:t>Done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626864"/>
            <a:ext cx="5349240" cy="4114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" y="4626864"/>
            <a:ext cx="5349240" cy="4114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8368" y="4700016"/>
            <a:ext cx="274320" cy="27432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4663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" y="468172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EDDF"/>
                </a:solidFill>
              </a:rPr>
              <a:t>Phase 7 — Semantic Cache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74920" y="46817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0C878"/>
                </a:solidFill>
              </a:rPr>
              <a:t>Done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63640" y="4626864"/>
            <a:ext cx="5349240" cy="4114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63640" y="4626864"/>
            <a:ext cx="5349240" cy="4114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700016"/>
            <a:ext cx="274320" cy="274320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663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468172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EDDF"/>
                </a:solidFill>
              </a:rPr>
              <a:t>Phase 8 — Testing &amp; RBAC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89920" y="46817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0C878"/>
                </a:solidFill>
              </a:rPr>
              <a:t>Done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288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288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288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288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288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288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288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432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432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432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432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432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432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32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432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576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576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576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6576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576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576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76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576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720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720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720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20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720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720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720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720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4864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4864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64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4864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4864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864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4864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008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4008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008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008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008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008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008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3152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3152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3152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3152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3152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3152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3152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3152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2296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96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2296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2296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2296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296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2296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40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1440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1440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440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1440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1440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440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1440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584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0584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0584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0584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0584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0584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584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0584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9728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9728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9728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9728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9728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9728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9728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9728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887200" y="914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887200" y="1828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887200" y="27432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887200" y="36576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887200" y="45720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887200" y="54864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887200" y="6400800"/>
            <a:ext cx="36576" cy="36576"/>
          </a:xfrm>
          <a:prstGeom prst="ellipse">
            <a:avLst/>
          </a:prstGeom>
          <a:solidFill>
            <a:srgbClr val="1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14400" y="3200400"/>
            <a:ext cx="10332720" cy="4114800"/>
          </a:xfrm>
          <a:prstGeom prst="ellipse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0040" y="164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AB8"/>
                </a:solidFill>
              </a:rPr>
              <a:t>Shiksha Sathi  ·  शिक्षा सारथी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728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56010"/>
                </a:solidFill>
              </a:rPr>
              <a:t>Proposal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9728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4EDDF"/>
                </a:solidFill>
              </a:rPr>
              <a:t>Launch a 100-school pilot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97280" y="2606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A52A"/>
                </a:solidFill>
              </a:rPr>
              <a:t>100 स्कूलों में पायलट — परिणाम देखें, फिर पूरे बिहार में विस्तार करें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463040" y="3337560"/>
            <a:ext cx="3108960" cy="14630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463040" y="3337560"/>
            <a:ext cx="3108960" cy="146304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74320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600200" y="40507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EDDF"/>
                </a:solidFill>
              </a:rPr>
              <a:t>Production Deploy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00200" y="4389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8"/>
                </a:solidFill>
              </a:rPr>
              <a:t>Vercel + Railway
Live in 1 week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846320" y="3337560"/>
            <a:ext cx="3108960" cy="14630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846320" y="3337560"/>
            <a:ext cx="3108960" cy="146304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126480" y="3447288"/>
            <a:ext cx="548640" cy="548640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12648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983480" y="40507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EDDF"/>
                </a:solidFill>
              </a:rPr>
              <a:t>Pilot — 100 Schools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983480" y="4389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8"/>
                </a:solidFill>
              </a:rPr>
              <a:t>Onboard 100 teachers
gather feedback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229600" y="3337560"/>
            <a:ext cx="3108960" cy="146304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229600" y="3337560"/>
            <a:ext cx="3108960" cy="146304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509760" y="3447288"/>
            <a:ext cx="548640" cy="548640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50976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66760" y="40507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EDDF"/>
                </a:solidFill>
              </a:rPr>
              <a:t>Scale to Bihar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366760" y="4389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8"/>
                </a:solidFill>
              </a:rPr>
              <a:t>Rollout to all
70,000 schools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114800" y="5074920"/>
            <a:ext cx="3931920" cy="411480"/>
          </a:xfrm>
          <a:prstGeom prst="rect">
            <a:avLst/>
          </a:prstGeom>
          <a:solidFill>
            <a:srgbClr val="13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114800" y="5074920"/>
            <a:ext cx="3931920" cy="411480"/>
          </a:xfrm>
          <a:prstGeom prst="rect">
            <a:avLst/>
          </a:prstGeom>
          <a:noFill/>
          <a:ln w="9525">
            <a:solidFill>
              <a:srgbClr val="25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114800" y="5074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52A"/>
                </a:solidFill>
              </a:rPr>
              <a:t>shiksha-sathi.vercel.app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728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8"/>
                </a:solidFill>
              </a:rPr>
              <a:t>Bihar State Education Board (BSEB)  ·  Government School Initiative  ·  Classes 6–10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